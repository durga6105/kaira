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905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presents our Enterprise Decision Intelligence Platform — a system that connects your company's fragmented data through Knowledge Graphs and serves answers through Agentic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organizational knowledge is trapped in silos. People waste hours searching and still get wrong answers because the connections between data are invisible.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solution: a smart AI assistant that knows your entire company. Ask in plain English, get the right answer with the source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technologies working together: Knowledge Graph (relationships), GraphRAG (smart retrieval), and MCP+LangChain (agentic orchestration).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7-layer architecture: data flows from raw sources through ingestion, graph+vector storage, GraphRAG retrieval, MCP agents, LLM reasoning, and finally to the user as a plain-English answer with downloadable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knowledge graph models your organization: people, departments, folders and documents as nodes, with typed relationships connecting them. When you ask 'who handles Finance?' it traverses MANAGES and OWNS edges to find the exact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(Model Context Protocol) makes each specialist agent a discoverable tool. The LangChain AgentExecutor acts as the orchestrator — deciding which agents to call, in what order, and synthesizing the final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modules are already built. We're adding the MCP agent layer on top — the orchestrator, specialist agents, and upgrading chatbot.py and the LLM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End-to-end: user asks in plain English, orchestrator fans out to graph + doc agents, GraphRAG fuses context, LLM answers. Result in under 3 seconds with source document and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347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" y="8229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Intelligence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28803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fragmented organizational data into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using Knowledge Graphs, GraphRAG &amp; Agentic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640080"/>
            <a:ext cx="210312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731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675120" y="12618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2057400"/>
            <a:ext cx="210312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148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675120" y="2679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Protocol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3474720"/>
            <a:ext cx="210312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3566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40965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Graph-Augmented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is Scattered. Answers are Slow. Decisions Suffer.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5727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1214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Silos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542032"/>
            <a:ext cx="1737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Excel files, employee records, emails — all stored in isolation with no connection between them.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41732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5727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21214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Search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97480" y="2542032"/>
            <a:ext cx="1737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waste hours hunting through folders, systems and inboxes to find a single answer.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09160" y="141732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57276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21214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Answers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46320" y="2542032"/>
            <a:ext cx="1737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errors, outdated files and missed context lead to decisions based on stale or incorrect data.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58000" y="141732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8" y="157276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21214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Relationships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95160" y="2542032"/>
            <a:ext cx="1737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that Person A manages Department B which owns Document C — it's invisible to search.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Plain English. Get the Right Answer. Instantly.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8136" y="15087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5727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402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517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employees, departments, folders and documents like a map — revealing hidden relationships.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41732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36976" y="15087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57276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22402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GraphRAG Engine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97480" y="26517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graph traversal with semantic vector search — finds the exact answer, not just keywords.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141732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85816" y="15087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56" y="15727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22402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46320" y="26517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MCP-powered agents plan, route, retrieve and synthesize — acting like a brilliant AI colleague.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58000" y="141732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34656" y="15087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157276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22402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Access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95160" y="26517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answer in plain English plus the source document ready to download — traceable and auditable.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Core Technologies Working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2697480" cy="352044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389888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63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1463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60704" y="17922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/ Amazon Neptune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3957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Person, Dept, Document, Folder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89864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manages, owns, authored, belongs to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40156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follows relationships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90448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'who', 'where', 'which dept' queries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3200400" y="1325880"/>
            <a:ext cx="2697480" cy="352044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3291840" y="1389888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1463040"/>
            <a:ext cx="502920" cy="5029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913632" y="1463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GraphRAG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3913632" y="17922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Vector Search Fusion</a:t>
            </a:r>
            <a:endParaRPr lang="en-US" sz="9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39572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602736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similarity search</a:t>
            </a:r>
            <a:endParaRPr lang="en-US" sz="10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898648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6027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path traversal combined</a:t>
            </a:r>
            <a:endParaRPr lang="en-US" sz="10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3401568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02736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fusion from both sources</a:t>
            </a:r>
            <a:endParaRPr lang="en-US" sz="10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3904488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602736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for accuracy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6053328" y="1325880"/>
            <a:ext cx="2697480" cy="352044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19"/>
          <p:cNvSpPr/>
          <p:nvPr/>
        </p:nvSpPr>
        <p:spPr>
          <a:xfrm>
            <a:off x="6144768" y="1389888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5A4FCF"/>
          </a:solidFill>
          <a:ln/>
        </p:spPr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463040"/>
            <a:ext cx="502920" cy="50292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766560" y="1463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+ LangChain</a:t>
            </a:r>
            <a:endParaRPr lang="en-US" sz="1400" dirty="0"/>
          </a:p>
        </p:txBody>
      </p:sp>
      <p:sp>
        <p:nvSpPr>
          <p:cNvPr id="34" name="Text 21"/>
          <p:cNvSpPr/>
          <p:nvPr/>
        </p:nvSpPr>
        <p:spPr>
          <a:xfrm>
            <a:off x="6766560" y="17922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Orchestration</a:t>
            </a:r>
            <a:endParaRPr lang="en-US" sz="9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395728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455664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AgentExecutor plans &amp; routes queries</a:t>
            </a:r>
            <a:endParaRPr lang="en-US" sz="105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898648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5566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registry for each agent</a:t>
            </a:r>
            <a:endParaRPr lang="en-US" sz="105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401568"/>
            <a:ext cx="201168" cy="201168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455664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&amp; long-term memory</a:t>
            </a:r>
            <a:endParaRPr lang="en-US" sz="105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904488"/>
            <a:ext cx="201168" cy="201168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455664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 decision trace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7-Layer Architecture — From Raw Data to Smart Answer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188720"/>
            <a:ext cx="329184" cy="438912"/>
          </a:xfrm>
          <a:prstGeom prst="roundRect">
            <a:avLst>
              <a:gd name="adj" fmla="val 19444"/>
            </a:avLst>
          </a:prstGeom>
          <a:solidFill>
            <a:srgbClr val="8899A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2527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2710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Excel, DBs, Emails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" y="1627632"/>
            <a:ext cx="0" cy="9144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719072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719072"/>
            <a:ext cx="329184" cy="438912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19072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78308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ETL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8013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loaders + parsers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" y="2157984"/>
            <a:ext cx="0" cy="914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249424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2249424"/>
            <a:ext cx="329184" cy="438912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249424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31343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331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+ FAISS + S3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" y="2688336"/>
            <a:ext cx="0" cy="9144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779776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2779776"/>
            <a:ext cx="329184" cy="438912"/>
          </a:xfrm>
          <a:prstGeom prst="roundRect">
            <a:avLst>
              <a:gd name="adj" fmla="val 19444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79776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28437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28620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+ vector fusion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" y="3218688"/>
            <a:ext cx="0" cy="914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310128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" y="3310128"/>
            <a:ext cx="329184" cy="438912"/>
          </a:xfrm>
          <a:prstGeom prst="roundRect">
            <a:avLst>
              <a:gd name="adj" fmla="val 19444"/>
            </a:avLst>
          </a:prstGeom>
          <a:solidFill>
            <a:srgbClr val="5A4FC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310128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33741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4720" y="33924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orchestrator + sub-agents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8096" y="3749040"/>
            <a:ext cx="0" cy="91440"/>
          </a:xfrm>
          <a:prstGeom prst="line">
            <a:avLst/>
          </a:prstGeom>
          <a:noFill/>
          <a:ln w="19050">
            <a:solidFill>
              <a:srgbClr val="5A4F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840480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/>
        </p:spPr>
      </p:sp>
      <p:sp>
        <p:nvSpPr>
          <p:cNvPr id="35" name="Shape 33"/>
          <p:cNvSpPr/>
          <p:nvPr/>
        </p:nvSpPr>
        <p:spPr>
          <a:xfrm>
            <a:off x="411480" y="3840480"/>
            <a:ext cx="329184" cy="438912"/>
          </a:xfrm>
          <a:prstGeom prst="roundRect">
            <a:avLst>
              <a:gd name="adj" fmla="val 19444"/>
            </a:avLst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840480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39044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Memory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74720" y="392277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GPT-4/Claude + context window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8096" y="4279392"/>
            <a:ext cx="0" cy="914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370832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/>
        </p:spPr>
      </p:sp>
      <p:sp>
        <p:nvSpPr>
          <p:cNvPr id="41" name="Shape 39"/>
          <p:cNvSpPr/>
          <p:nvPr/>
        </p:nvSpPr>
        <p:spPr>
          <a:xfrm>
            <a:off x="411480" y="4370832"/>
            <a:ext cx="329184" cy="438912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370832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44348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Response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474720" y="44531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answer + download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Your Entire Organization as a Connected Graph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7373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556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9751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Chen, Manager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384048" cy="384048"/>
          </a:xfrm>
          <a:prstGeom prst="ellipse">
            <a:avLst/>
          </a:prstGeom>
          <a:solidFill>
            <a:srgbClr val="5A4FC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0545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7249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HR, Legal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236976"/>
            <a:ext cx="384048" cy="38404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552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Audit Report.pdf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986784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050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2245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/Finance/Reports/2024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73736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8196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196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→  Department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5915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4414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441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→  Folder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80944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→  Document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602736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685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685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 →  Document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4224528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43068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 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43068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 → 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AGENTIC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MCP + LangChain Power the Orchestrator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1170432"/>
            <a:ext cx="4572000" cy="713232"/>
          </a:xfrm>
          <a:prstGeom prst="roundRect">
            <a:avLst>
              <a:gd name="adj" fmla="val 15385"/>
            </a:avLst>
          </a:prstGeom>
          <a:solidFill>
            <a:srgbClr val="5A4FC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2344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Orchestrator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508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AgentExecutor  •  Plan → Route → Execute → Synthesize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2331720"/>
            <a:ext cx="15087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242316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9718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queries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Neo4j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01852" y="1883664"/>
            <a:ext cx="0" cy="448056"/>
          </a:xfrm>
          <a:prstGeom prst="line">
            <a:avLst/>
          </a:prstGeom>
          <a:noFill/>
          <a:ln w="19050">
            <a:solidFill>
              <a:srgbClr val="5A4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2331720"/>
            <a:ext cx="15087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20240" y="242316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9718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74620" y="1883664"/>
            <a:ext cx="0" cy="448056"/>
          </a:xfrm>
          <a:prstGeom prst="line">
            <a:avLst/>
          </a:prstGeom>
          <a:noFill/>
          <a:ln w="19050">
            <a:solidFill>
              <a:srgbClr val="5A4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3008" y="2331720"/>
            <a:ext cx="15087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93008" y="242316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84448" y="29718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47388" y="1883664"/>
            <a:ext cx="0" cy="448056"/>
          </a:xfrm>
          <a:prstGeom prst="line">
            <a:avLst/>
          </a:prstGeom>
          <a:noFill/>
          <a:ln w="19050">
            <a:solidFill>
              <a:srgbClr val="5A4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65776" y="2331720"/>
            <a:ext cx="15087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65776" y="242316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9718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20156" y="1883664"/>
            <a:ext cx="0" cy="448056"/>
          </a:xfrm>
          <a:prstGeom prst="line">
            <a:avLst/>
          </a:prstGeom>
          <a:noFill/>
          <a:ln w="19050">
            <a:solidFill>
              <a:srgbClr val="5A4F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38544" y="2331720"/>
            <a:ext cx="15087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38544" y="242316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9984" y="29718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92924" y="1883664"/>
            <a:ext cx="0" cy="448056"/>
          </a:xfrm>
          <a:prstGeom prst="line">
            <a:avLst/>
          </a:prstGeom>
          <a:noFill/>
          <a:ln w="19050">
            <a:solidFill>
              <a:srgbClr val="5A4F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840480"/>
            <a:ext cx="8449056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9319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Registry  —  Each agent is a JSON-schema tool. Orchestrator discovers and calls them via standardized protocol.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Built vs. What We're Adding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749040" cy="3547872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98448"/>
            <a:ext cx="3749040" cy="475488"/>
          </a:xfrm>
          <a:prstGeom prst="roundRect">
            <a:avLst>
              <a:gd name="adj" fmla="val 26923"/>
            </a:avLst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07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 —  18 Modules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90195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188366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app/ingestion/ — file loader, PDF, Excel, ETL pipeline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2257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23042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app/graph/ — Neo4j connection, node &amp; relationship builder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74320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" y="27249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app/vector/ — chunking, embeddings, vector store &amp; retriever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16382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" y="31455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app/query/ — query analyzer, intent detector, schema router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58444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31520" y="35661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app/llm/ — prompt builder, response generator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005072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31520" y="39867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app/api/ — FastAPI routes, document API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425696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31520" y="44074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app/storage/ — file manager, download service</a:t>
            </a:r>
            <a:endParaRPr lang="en-US" sz="1000" dirty="0"/>
          </a:p>
        </p:txBody>
      </p:sp>
      <p:sp>
        <p:nvSpPr>
          <p:cNvPr id="22" name="Shape 12"/>
          <p:cNvSpPr/>
          <p:nvPr/>
        </p:nvSpPr>
        <p:spPr>
          <a:xfrm>
            <a:off x="4663440" y="1298448"/>
            <a:ext cx="4114800" cy="3547872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3"/>
          <p:cNvSpPr/>
          <p:nvPr/>
        </p:nvSpPr>
        <p:spPr>
          <a:xfrm>
            <a:off x="4663440" y="1298448"/>
            <a:ext cx="4114800" cy="475488"/>
          </a:xfrm>
          <a:prstGeom prst="roundRect">
            <a:avLst>
              <a:gd name="adj" fmla="val 26923"/>
            </a:avLst>
          </a:prstGeom>
          <a:solidFill>
            <a:srgbClr val="5A4FCF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380744"/>
            <a:ext cx="274320" cy="27432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2064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Adding  —  MCP + Agents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4773168" y="188366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5A4FCF"/>
          </a:solidFill>
          <a:ln/>
        </p:spPr>
      </p:sp>
      <p:sp>
        <p:nvSpPr>
          <p:cNvPr id="27" name="Text 16"/>
          <p:cNvSpPr/>
          <p:nvPr/>
        </p:nvSpPr>
        <p:spPr>
          <a:xfrm>
            <a:off x="4773168" y="188366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8" name="Text 17"/>
          <p:cNvSpPr/>
          <p:nvPr/>
        </p:nvSpPr>
        <p:spPr>
          <a:xfrm>
            <a:off x="5212080" y="18836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app/agents/orchestrator.py  —  LangChain AgentExecutor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4773168" y="230428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5A4FCF"/>
          </a:solidFill>
          <a:ln/>
        </p:spPr>
      </p:sp>
      <p:sp>
        <p:nvSpPr>
          <p:cNvPr id="30" name="Text 19"/>
          <p:cNvSpPr/>
          <p:nvPr/>
        </p:nvSpPr>
        <p:spPr>
          <a:xfrm>
            <a:off x="4773168" y="2304288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31" name="Text 20"/>
          <p:cNvSpPr/>
          <p:nvPr/>
        </p:nvSpPr>
        <p:spPr>
          <a:xfrm>
            <a:off x="5212080" y="23042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app/agents/graph_agent.py  —  MCP tool for Neo4j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4773168" y="272491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5A4FCF"/>
          </a:solidFill>
          <a:ln/>
        </p:spPr>
      </p:sp>
      <p:sp>
        <p:nvSpPr>
          <p:cNvPr id="33" name="Text 22"/>
          <p:cNvSpPr/>
          <p:nvPr/>
        </p:nvSpPr>
        <p:spPr>
          <a:xfrm>
            <a:off x="4773168" y="272491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34" name="Text 23"/>
          <p:cNvSpPr/>
          <p:nvPr/>
        </p:nvSpPr>
        <p:spPr>
          <a:xfrm>
            <a:off x="5212080" y="27249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app/agents/doc_agent.py  —  MCP tool for vector retrieval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4773168" y="3145536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5A4FCF"/>
          </a:solidFill>
          <a:ln/>
        </p:spPr>
      </p:sp>
      <p:sp>
        <p:nvSpPr>
          <p:cNvPr id="36" name="Text 25"/>
          <p:cNvSpPr/>
          <p:nvPr/>
        </p:nvSpPr>
        <p:spPr>
          <a:xfrm>
            <a:off x="4773168" y="3145536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5212080" y="314553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app/agents/mcp_tool_registry.py  —  Tool discovery API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4773168" y="356616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/>
        </p:spPr>
      </p:sp>
      <p:sp>
        <p:nvSpPr>
          <p:cNvPr id="39" name="Text 28"/>
          <p:cNvSpPr/>
          <p:nvPr/>
        </p:nvSpPr>
        <p:spPr>
          <a:xfrm>
            <a:off x="4773168" y="356616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</a:t>
            </a:r>
            <a:endParaRPr lang="en-US" sz="800" dirty="0"/>
          </a:p>
        </p:txBody>
      </p:sp>
      <p:sp>
        <p:nvSpPr>
          <p:cNvPr id="40" name="Text 29"/>
          <p:cNvSpPr/>
          <p:nvPr/>
        </p:nvSpPr>
        <p:spPr>
          <a:xfrm>
            <a:off x="5212080" y="3566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app/api/chatbot.py  —  Route through orchestrator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4773168" y="398678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/>
        </p:spPr>
      </p:sp>
      <p:sp>
        <p:nvSpPr>
          <p:cNvPr id="42" name="Text 31"/>
          <p:cNvSpPr/>
          <p:nvPr/>
        </p:nvSpPr>
        <p:spPr>
          <a:xfrm>
            <a:off x="4773168" y="398678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5212080" y="39867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app/llm/  —  Add GraphRAG context + memory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4773168" y="440740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/>
        </p:spPr>
      </p:sp>
      <p:sp>
        <p:nvSpPr>
          <p:cNvPr id="45" name="Text 34"/>
          <p:cNvSpPr/>
          <p:nvPr/>
        </p:nvSpPr>
        <p:spPr>
          <a:xfrm>
            <a:off x="4773168" y="4407408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</a:t>
            </a:r>
            <a:endParaRPr lang="en-US" sz="800" dirty="0"/>
          </a:p>
        </p:txBody>
      </p:sp>
      <p:sp>
        <p:nvSpPr>
          <p:cNvPr id="46" name="Text 35"/>
          <p:cNvSpPr/>
          <p:nvPr/>
        </p:nvSpPr>
        <p:spPr>
          <a:xfrm>
            <a:off x="5212080" y="44074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app/query/schema_router.py  —  Register as LangChain Tools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"Who handles the Finance audit report?"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143000" cy="25603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2344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234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asks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228600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question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17320" y="1600200"/>
            <a:ext cx="10058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17904" y="1143000"/>
            <a:ext cx="1143000" cy="25603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47088" y="1234440"/>
            <a:ext cx="475488" cy="475488"/>
          </a:xfrm>
          <a:prstGeom prst="ellipse">
            <a:avLst/>
          </a:prstGeom>
          <a:solidFill>
            <a:srgbClr val="5A4FCF"/>
          </a:solidFill>
          <a:ln/>
        </p:spPr>
      </p:sp>
      <p:sp>
        <p:nvSpPr>
          <p:cNvPr id="12" name="Text 10"/>
          <p:cNvSpPr/>
          <p:nvPr/>
        </p:nvSpPr>
        <p:spPr>
          <a:xfrm>
            <a:off x="1847088" y="1234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17904" y="18288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 plans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91056" y="228600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decides: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doc retrieval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60904" y="1600200"/>
            <a:ext cx="100584" cy="0"/>
          </a:xfrm>
          <a:prstGeom prst="line">
            <a:avLst/>
          </a:prstGeom>
          <a:noFill/>
          <a:ln w="25400">
            <a:solidFill>
              <a:srgbClr val="5A4F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1143000"/>
            <a:ext cx="1143000" cy="25603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90672" y="12344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090672" y="1234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61488" y="18288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28600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Alice → Finance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MANAGES edge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04488" y="1600200"/>
            <a:ext cx="10058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5072" y="1143000"/>
            <a:ext cx="1143000" cy="25603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34256" y="12344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334256" y="1234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005072" y="18288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78224" y="228600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audit report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vector store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48072" y="1600200"/>
            <a:ext cx="10058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48656" y="1143000"/>
            <a:ext cx="1143000" cy="25603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7840" y="123444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1234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48656" y="18288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GraphRAG fuses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21808" y="228600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graph path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document chunks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91656" y="1600200"/>
            <a:ext cx="100584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1143000"/>
            <a:ext cx="1143000" cy="25603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21424" y="1234440"/>
            <a:ext cx="475488" cy="475488"/>
          </a:xfrm>
          <a:prstGeom prst="ellipse">
            <a:avLst/>
          </a:prstGeom>
          <a:solidFill>
            <a:srgbClr val="5A4FCF"/>
          </a:solidFill>
          <a:ln/>
        </p:spPr>
      </p:sp>
      <p:sp>
        <p:nvSpPr>
          <p:cNvPr id="36" name="Text 34"/>
          <p:cNvSpPr/>
          <p:nvPr/>
        </p:nvSpPr>
        <p:spPr>
          <a:xfrm>
            <a:off x="6821424" y="1234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2240" y="18288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synthesizes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65392" y="228600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answer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 citation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35240" y="1600200"/>
            <a:ext cx="100584" cy="0"/>
          </a:xfrm>
          <a:prstGeom prst="line">
            <a:avLst/>
          </a:prstGeom>
          <a:noFill/>
          <a:ln w="25400">
            <a:solidFill>
              <a:srgbClr val="5A4FC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35824" y="1143000"/>
            <a:ext cx="1143000" cy="25603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65008" y="1234440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8065008" y="1234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35824" y="18288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receives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08976" y="228600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download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log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3913632"/>
            <a:ext cx="8321040" cy="804672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0050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"Alice Chen in Finance manages the Q3 Audit Report — click to download"  |  Time: &lt; 3 seconds  |  Source: verified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1107</Words>
  <Application>Microsoft Office PowerPoint</Application>
  <PresentationFormat>On-screen Show (16:9)</PresentationFormat>
  <Paragraphs>194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Decision Intelligence Platform</dc:title>
  <dc:subject>PptxGenJS Presentation</dc:subject>
  <dc:creator>PptxGenJS</dc:creator>
  <cp:lastModifiedBy>peddimeni varamanikanta</cp:lastModifiedBy>
  <cp:revision>2</cp:revision>
  <dcterms:created xsi:type="dcterms:W3CDTF">2026-06-27T07:36:18Z</dcterms:created>
  <dcterms:modified xsi:type="dcterms:W3CDTF">2026-06-27T10:24:30Z</dcterms:modified>
</cp:coreProperties>
</file>